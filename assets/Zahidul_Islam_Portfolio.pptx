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1bc17a4a29490a" /><Relationship Type="http://schemas.openxmlformats.org/officeDocument/2006/relationships/extended-properties" Target="/docProps/app.xml" Id="Rdcb49987efaf42d2" /><Relationship Type="http://schemas.openxmlformats.org/officeDocument/2006/relationships/officeDocument" Target="/ppt/presentation.xml" Id="R0618feda8a1140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6c74a39f21400f"/>
  </p:sldMasterIdLst>
  <p:notesMasterIdLst>
    <p:notesMasterId xmlns:r="http://schemas.openxmlformats.org/officeDocument/2006/relationships" r:id="R0169a53ed7f44273"/>
  </p:notesMasterIdLst>
  <p:sldIdLst>
    <p:sldId xmlns:r="http://schemas.openxmlformats.org/officeDocument/2006/relationships" id="256" r:id="Ra177180ea7304fe8"/>
    <p:sldId xmlns:r="http://schemas.openxmlformats.org/officeDocument/2006/relationships" id="257" r:id="R0db1665d7b964365"/>
    <p:sldId xmlns:r="http://schemas.openxmlformats.org/officeDocument/2006/relationships" id="258" r:id="R6d068dc27a6e4cd5"/>
    <p:sldId xmlns:r="http://schemas.openxmlformats.org/officeDocument/2006/relationships" id="259" r:id="Reae083ea0e8c423c"/>
    <p:sldId xmlns:r="http://schemas.openxmlformats.org/officeDocument/2006/relationships" id="260" r:id="R401afa1d6a4b4eb6"/>
    <p:sldId xmlns:r="http://schemas.openxmlformats.org/officeDocument/2006/relationships" id="261" r:id="R8e03274076914cc9"/>
    <p:sldId xmlns:r="http://schemas.openxmlformats.org/officeDocument/2006/relationships" id="262" r:id="Rcb79b5b9e387472c"/>
    <p:sldId xmlns:r="http://schemas.openxmlformats.org/officeDocument/2006/relationships" id="263" r:id="R9fb97109bae64238"/>
    <p:sldId xmlns:r="http://schemas.openxmlformats.org/officeDocument/2006/relationships" id="264" r:id="R8c7e1e7160e34c8f"/>
    <p:sldId xmlns:r="http://schemas.openxmlformats.org/officeDocument/2006/relationships" id="265" r:id="Ra99dffee73f34388"/>
    <p:sldId xmlns:r="http://schemas.openxmlformats.org/officeDocument/2006/relationships" id="266" r:id="R5df50c559d6846f4"/>
    <p:sldId xmlns:r="http://schemas.openxmlformats.org/officeDocument/2006/relationships" id="267" r:id="R6905dca4f1654649"/>
    <p:sldId xmlns:r="http://schemas.openxmlformats.org/officeDocument/2006/relationships" id="268" r:id="R3de7a5a4f87645ea"/>
    <p:sldId xmlns:r="http://schemas.openxmlformats.org/officeDocument/2006/relationships" id="269" r:id="R8f8cf7544de1497f"/>
    <p:sldId xmlns:r="http://schemas.openxmlformats.org/officeDocument/2006/relationships" id="270" r:id="R8598821e8e2d4d9e"/>
    <p:sldId xmlns:r="http://schemas.openxmlformats.org/officeDocument/2006/relationships" id="271" r:id="Rc93dc2bcfe634f40"/>
    <p:sldId xmlns:r="http://schemas.openxmlformats.org/officeDocument/2006/relationships" id="272" r:id="R672776ef5cf34f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c7a87393264914" /><Relationship Type="http://schemas.openxmlformats.org/officeDocument/2006/relationships/slideMaster" Target="/ppt/slideMasters/slideMaster1.xml" Id="Ra46c74a39f21400f" /><Relationship Type="http://schemas.openxmlformats.org/officeDocument/2006/relationships/notesMaster" Target="/ppt/notesMasters/notesMaster1.xml" Id="R0169a53ed7f44273" /><Relationship Type="http://schemas.openxmlformats.org/officeDocument/2006/relationships/presProps" Target="/ppt/presProps.xml" Id="R4c73d2519d8743e3" /><Relationship Type="http://schemas.openxmlformats.org/officeDocument/2006/relationships/tableStyles" Target="/ppt/tableStyles.xml" Id="R24c2ce8883574c29" /><Relationship Type="http://schemas.openxmlformats.org/officeDocument/2006/relationships/slide" Target="/ppt/slides/slide1.xml" Id="Ra177180ea7304fe8" /><Relationship Type="http://schemas.openxmlformats.org/officeDocument/2006/relationships/slide" Target="/ppt/slides/slide2.xml" Id="R0db1665d7b964365" /><Relationship Type="http://schemas.openxmlformats.org/officeDocument/2006/relationships/slide" Target="/ppt/slides/slide3.xml" Id="R6d068dc27a6e4cd5" /><Relationship Type="http://schemas.openxmlformats.org/officeDocument/2006/relationships/slide" Target="/ppt/slides/slide4.xml" Id="Reae083ea0e8c423c" /><Relationship Type="http://schemas.openxmlformats.org/officeDocument/2006/relationships/slide" Target="/ppt/slides/slide5.xml" Id="R401afa1d6a4b4eb6" /><Relationship Type="http://schemas.openxmlformats.org/officeDocument/2006/relationships/slide" Target="/ppt/slides/slide6.xml" Id="R8e03274076914cc9" /><Relationship Type="http://schemas.openxmlformats.org/officeDocument/2006/relationships/slide" Target="/ppt/slides/slide7.xml" Id="Rcb79b5b9e387472c" /><Relationship Type="http://schemas.openxmlformats.org/officeDocument/2006/relationships/slide" Target="/ppt/slides/slide8.xml" Id="R9fb97109bae64238" /><Relationship Type="http://schemas.openxmlformats.org/officeDocument/2006/relationships/slide" Target="/ppt/slides/slide9.xml" Id="R8c7e1e7160e34c8f" /><Relationship Type="http://schemas.openxmlformats.org/officeDocument/2006/relationships/slide" Target="/ppt/slides/slide10.xml" Id="Ra99dffee73f34388" /><Relationship Type="http://schemas.openxmlformats.org/officeDocument/2006/relationships/slide" Target="/ppt/slides/slide11.xml" Id="R5df50c559d6846f4" /><Relationship Type="http://schemas.openxmlformats.org/officeDocument/2006/relationships/slide" Target="/ppt/slides/slide12.xml" Id="R6905dca4f1654649" /><Relationship Type="http://schemas.openxmlformats.org/officeDocument/2006/relationships/slide" Target="/ppt/slides/slide13.xml" Id="R3de7a5a4f87645ea" /><Relationship Type="http://schemas.openxmlformats.org/officeDocument/2006/relationships/slide" Target="/ppt/slides/slide14.xml" Id="R8f8cf7544de1497f" /><Relationship Type="http://schemas.openxmlformats.org/officeDocument/2006/relationships/slide" Target="/ppt/slides/slide15.xml" Id="R8598821e8e2d4d9e" /><Relationship Type="http://schemas.openxmlformats.org/officeDocument/2006/relationships/slide" Target="/ppt/slides/slide16.xml" Id="Rc93dc2bcfe634f40" /><Relationship Type="http://schemas.openxmlformats.org/officeDocument/2006/relationships/slide" Target="/ppt/slides/slide17.xml" Id="R672776ef5cf34f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6daff84f804e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7177340d3f4de3" /><Relationship Type="http://schemas.openxmlformats.org/officeDocument/2006/relationships/notesMaster" Target="/ppt/notesMasters/notesMaster1.xml" Id="R866709ca1cbb44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ab7b1c56ea43d2" /><Relationship Type="http://schemas.openxmlformats.org/officeDocument/2006/relationships/notesMaster" Target="/ppt/notesMasters/notesMaster1.xml" Id="R75e25a12c3524c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2add468c064f53" /><Relationship Type="http://schemas.openxmlformats.org/officeDocument/2006/relationships/notesMaster" Target="/ppt/notesMasters/notesMaster1.xml" Id="R21b11515788348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ec3dd39a2d4b97" /><Relationship Type="http://schemas.openxmlformats.org/officeDocument/2006/relationships/notesMaster" Target="/ppt/notesMasters/notesMaster1.xml" Id="R8f4c17c69e204a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2a726984d2458a" /><Relationship Type="http://schemas.openxmlformats.org/officeDocument/2006/relationships/notesMaster" Target="/ppt/notesMasters/notesMaster1.xml" Id="R551ff0f3e86642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4bb0230c0b437e" /><Relationship Type="http://schemas.openxmlformats.org/officeDocument/2006/relationships/notesMaster" Target="/ppt/notesMasters/notesMaster1.xml" Id="R1318d23478cc44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de9bc4d5a34f2f" /><Relationship Type="http://schemas.openxmlformats.org/officeDocument/2006/relationships/notesMaster" Target="/ppt/notesMasters/notesMaster1.xml" Id="R21b2ec2a20ae47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123dd2f9e444b7" /><Relationship Type="http://schemas.openxmlformats.org/officeDocument/2006/relationships/notesMaster" Target="/ppt/notesMasters/notesMaster1.xml" Id="R9e94a572b29043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8cd27d0f064559" /><Relationship Type="http://schemas.openxmlformats.org/officeDocument/2006/relationships/notesMaster" Target="/ppt/notesMasters/notesMaster1.xml" Id="Rd8232999cf444c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86c7d950b74792" /><Relationship Type="http://schemas.openxmlformats.org/officeDocument/2006/relationships/notesMaster" Target="/ppt/notesMasters/notesMaster1.xml" Id="R5ab13f97e3b94c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c195220c584dcb" /><Relationship Type="http://schemas.openxmlformats.org/officeDocument/2006/relationships/notesMaster" Target="/ppt/notesMasters/notesMaster1.xml" Id="Reb53f4b786524e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f5585ea8e44459" /><Relationship Type="http://schemas.openxmlformats.org/officeDocument/2006/relationships/notesMaster" Target="/ppt/notesMasters/notesMaster1.xml" Id="Reea284fec56541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af5608c87d4fd3" /><Relationship Type="http://schemas.openxmlformats.org/officeDocument/2006/relationships/notesMaster" Target="/ppt/notesMasters/notesMaster1.xml" Id="Rf736fbaef2094c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bb627dca234378" /><Relationship Type="http://schemas.openxmlformats.org/officeDocument/2006/relationships/notesMaster" Target="/ppt/notesMasters/notesMaster1.xml" Id="Re1d1c20ed2844ef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e7378658ca04f4d" /><Relationship Type="http://schemas.openxmlformats.org/officeDocument/2006/relationships/notesMaster" Target="/ppt/notesMasters/notesMaster1.xml" Id="Ra9d40adc6f1247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3e394eaff74673" /><Relationship Type="http://schemas.openxmlformats.org/officeDocument/2006/relationships/notesMaster" Target="/ppt/notesMasters/notesMaster1.xml" Id="R8d53abff1c394d7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f3122272b4b454a" /><Relationship Type="http://schemas.openxmlformats.org/officeDocument/2006/relationships/notesMaster" Target="/ppt/notesMasters/notesMaster1.xml" Id="Re05f4bce69e24c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d2337ac7ac41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7b09c5ad942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211f30ba34e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17519c1da4d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2353a18a834b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b30d6d0db42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4028AA-1071-45DC-B3B3-0652D76A94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C5D6D7-0B65-46E6-8136-E24D631944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F36997-206C-4A8E-A3E1-4205217C5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1470A8-6402-436C-BB52-10480CF8D0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4645E7F-8A28-461B-92C8-69CBD46F3F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9E9CEE-5035-4BBB-81CF-221DD67DF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20CEAD-4D72-4AA6-BF2C-99F7151AFD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B879B4-A50F-4600-B7F7-2C8088196D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282194-87E7-4E17-8728-718D9F0B70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F07A28-EF52-4D93-BDA5-DED62A27B5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afb93c0d964fb2" /><Relationship Type="http://schemas.openxmlformats.org/officeDocument/2006/relationships/slideLayout" Target="/ppt/slideLayouts/slideLayout1.xml" Id="R38f91ddaad3c4e02" /><Relationship Type="http://schemas.openxmlformats.org/officeDocument/2006/relationships/slideLayout" Target="/ppt/slideLayouts/slideLayout2.xml" Id="R79b5f3b331f346b9" /><Relationship Type="http://schemas.openxmlformats.org/officeDocument/2006/relationships/slideLayout" Target="/ppt/slideLayouts/slideLayout3.xml" Id="R6bab71fa7f5c4346" /><Relationship Type="http://schemas.openxmlformats.org/officeDocument/2006/relationships/slideLayout" Target="/ppt/slideLayouts/slideLayout4.xml" Id="R34ea2202f8ca4ed9" /><Relationship Type="http://schemas.openxmlformats.org/officeDocument/2006/relationships/slideLayout" Target="/ppt/slideLayouts/slideLayout5.xml" Id="R9c0d2a886cb94a81" /><Relationship Type="http://schemas.openxmlformats.org/officeDocument/2006/relationships/slideLayout" Target="/ppt/slideLayouts/slideLayout6.xml" Id="R2555a0b5c51640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f91ddaad3c4e02"/>
    <p:sldLayoutId xmlns:r="http://schemas.openxmlformats.org/officeDocument/2006/relationships" id="2147483650" r:id="R79b5f3b331f346b9"/>
    <p:sldLayoutId xmlns:r="http://schemas.openxmlformats.org/officeDocument/2006/relationships" id="2147483651" r:id="R6bab71fa7f5c4346"/>
    <p:sldLayoutId xmlns:r="http://schemas.openxmlformats.org/officeDocument/2006/relationships" id="2147483652" r:id="R34ea2202f8ca4ed9"/>
    <p:sldLayoutId xmlns:r="http://schemas.openxmlformats.org/officeDocument/2006/relationships" id="2147483653" r:id="R9c0d2a886cb94a81"/>
    <p:sldLayoutId xmlns:r="http://schemas.openxmlformats.org/officeDocument/2006/relationships" id="2147483654" r:id="R2555a0b5c51640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ab275e3bf14e2e" /><Relationship Type="http://schemas.openxmlformats.org/officeDocument/2006/relationships/image" Target="/ppt/media/image.png" Id="Re0cbcfee2ff14f58" /><Relationship Type="http://schemas.openxmlformats.org/officeDocument/2006/relationships/notesSlide" Target="/ppt/notesSlides/notesSlide1.xml" Id="Raae9c9ce7dd646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02149604a04fe5" /><Relationship Type="http://schemas.openxmlformats.org/officeDocument/2006/relationships/notesSlide" Target="/ppt/notesSlides/notesSlide2.xml" Id="R9e37906794a64d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7abb9c2d6345d1" /><Relationship Type="http://schemas.openxmlformats.org/officeDocument/2006/relationships/notesSlide" Target="/ppt/notesSlides/notesSlide3.xml" Id="Reeb6dcd60ca946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b9d47d297e44d2" /><Relationship Type="http://schemas.openxmlformats.org/officeDocument/2006/relationships/notesSlide" Target="/ppt/notesSlides/notesSlide4.xml" Id="Rbf5b6d70e4c747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e99e761174472f" /><Relationship Type="http://schemas.openxmlformats.org/officeDocument/2006/relationships/notesSlide" Target="/ppt/notesSlides/notesSlide5.xml" Id="R1b77284aedd546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af3501f2a44d77" /><Relationship Type="http://schemas.openxmlformats.org/officeDocument/2006/relationships/image" Target="/ppt/media/image.jpeg" Id="R35d3cf630b5b4d5a" /><Relationship Type="http://schemas.openxmlformats.org/officeDocument/2006/relationships/notesSlide" Target="/ppt/notesSlides/notesSlide6.xml" Id="R9714a2c886cb4e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b0f5a5c96845cb" /><Relationship Type="http://schemas.openxmlformats.org/officeDocument/2006/relationships/notesSlide" Target="/ppt/notesSlides/notesSlide7.xml" Id="Rf0f98322357149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99a21571f344e1" /><Relationship Type="http://schemas.openxmlformats.org/officeDocument/2006/relationships/notesSlide" Target="/ppt/notesSlides/notesSlide8.xml" Id="Rd4acd49ec11b48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48d3d0f6444d62" /><Relationship Type="http://schemas.openxmlformats.org/officeDocument/2006/relationships/image" Target="/ppt/media/image2.jpeg" Id="R1dbbb62453be4e86" /><Relationship Type="http://schemas.openxmlformats.org/officeDocument/2006/relationships/notesSlide" Target="/ppt/notesSlides/notesSlide9.xml" Id="R5bde5e22ad2946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d2efccd04c4deb" /><Relationship Type="http://schemas.openxmlformats.org/officeDocument/2006/relationships/notesSlide" Target="/ppt/notesSlides/notesSlide10.xml" Id="R32959d4705944f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e0af32cdf94688" /><Relationship Type="http://schemas.openxmlformats.org/officeDocument/2006/relationships/image" Target="/ppt/media/image3.jpeg" Id="Rbf62727260f9481e" /><Relationship Type="http://schemas.openxmlformats.org/officeDocument/2006/relationships/notesSlide" Target="/ppt/notesSlides/notesSlide11.xml" Id="R35cdd86dd92944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619b669a9647cd" /><Relationship Type="http://schemas.openxmlformats.org/officeDocument/2006/relationships/notesSlide" Target="/ppt/notesSlides/notesSlide12.xml" Id="Re97705af082a49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8f0a725a64440e" /><Relationship Type="http://schemas.openxmlformats.org/officeDocument/2006/relationships/image" Target="/ppt/media/image4.jpeg" Id="R7591744882824a07" /><Relationship Type="http://schemas.openxmlformats.org/officeDocument/2006/relationships/image" Target="/ppt/media/image5.jpeg" Id="Rf20a8b43b6864fba" /><Relationship Type="http://schemas.openxmlformats.org/officeDocument/2006/relationships/notesSlide" Target="/ppt/notesSlides/notesSlide13.xml" Id="Rc3a7dfa504b742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828b213a374a69" /><Relationship Type="http://schemas.openxmlformats.org/officeDocument/2006/relationships/notesSlide" Target="/ppt/notesSlides/notesSlide14.xml" Id="R99b717cc421d4d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2f4095e3de49d9" /><Relationship Type="http://schemas.openxmlformats.org/officeDocument/2006/relationships/notesSlide" Target="/ppt/notesSlides/notesSlide15.xml" Id="R7da6ea862d8049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9801ebdc3d414b" /><Relationship Type="http://schemas.openxmlformats.org/officeDocument/2006/relationships/notesSlide" Target="/ppt/notesSlides/notesSlide16.xml" Id="R614bd315b9ee40a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b911524d0744a4" /><Relationship Type="http://schemas.openxmlformats.org/officeDocument/2006/relationships/hyperlink" Target="mailto:zahidul.faysal02@gmail.com" TargetMode="External" Id="Race9dba4bae2436a" /><Relationship Type="http://schemas.openxmlformats.org/officeDocument/2006/relationships/hyperlink" Target="https://www.linkedin.com/in/zahidul-islam1766" TargetMode="External" Id="R45910986bb154600" /><Relationship Type="http://schemas.openxmlformats.org/officeDocument/2006/relationships/notesSlide" Target="/ppt/notesSlides/notesSlide17.xml" Id="Rfba1b21ac58245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29975-0750-4C1E-B07A-61BA90C3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CA1FA-9725-40CA-B240-CCC8A303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Zahidul Islam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09E3C-59FE-4455-B625-72ECAA2C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C1735-D179-4A3D-80EB-2F0A07DE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C6D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C6D4A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6D4AA"/>
                </a:solidFill>
                <a:latin typeface="Arial"/>
                <a:ea typeface="Arial"/>
                <a:cs typeface="Arial"/>
              </a:rPr>
              <a:t>MARKETING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6CB47-61C0-455A-8875-DE707C93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57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45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5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Zahidul</a:t>
            </a:r>
          </a:p>
          <a:p xmlns:a="http://schemas.openxmlformats.org/drawingml/2006/main">
            <a:pPr>
              <a:defRPr sz="645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Islam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1DEDF-8840-4FA8-B4DF-B2017727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E0E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E0E5D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0E5DB"/>
                </a:solidFill>
                <a:latin typeface="Arial"/>
                <a:ea typeface="Arial"/>
                <a:cs typeface="Arial"/>
              </a:rPr>
              <a:t>BBA in Marketing</a:t>
            </a:r>
          </a:p>
          <a:p xmlns:a="http://schemas.openxmlformats.org/drawingml/2006/main">
            <a:pPr>
              <a:defRPr sz="2175" b="0">
                <a:solidFill>
                  <a:srgbClr val="E0E5D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0E5DB"/>
                </a:solidFill>
                <a:latin typeface="Arial"/>
                <a:ea typeface="Arial"/>
                <a:cs typeface="Arial"/>
              </a:rPr>
              <a:t>Jahangirnagar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9246A-F7D5-4D63-8C1B-842AFF78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C6D4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C6D4A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6D4AA"/>
                </a:solidFill>
                <a:latin typeface="Arial"/>
                <a:ea typeface="Arial"/>
                <a:cs typeface="Arial"/>
              </a:rPr>
              <a:t>Brand Management / Trade Marketing</a:t>
            </a:r>
          </a:p>
          <a:p xmlns:a="http://schemas.openxmlformats.org/drawingml/2006/main">
            <a:pPr>
              <a:defRPr sz="1725" b="0">
                <a:solidFill>
                  <a:srgbClr val="C6D4A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6D4AA"/>
                </a:solidFill>
                <a:latin typeface="Arial"/>
                <a:ea typeface="Arial"/>
                <a:cs typeface="Arial"/>
              </a:rPr>
              <a:t>Consumer Insights / Business Development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44C2D-9963-4983-8C90-819F1404E1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bcfee2ff14f58"/>
          <a:srcRect xmlns:a="http://schemas.openxmlformats.org/drawingml/2006/main" l="19401" t="0" r="194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72375" y="857250"/>
            <a:ext cx="4000500" cy="5048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624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7BAF2-3FCE-4F54-9F44-BA2D0975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E2A74-62D1-4B4A-8A75-105AE9E5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37738"/>
                </a:solidFill>
                <a:latin typeface="Arial"/>
                <a:ea typeface="Arial"/>
                <a:cs typeface="Arial"/>
              </a:rPr>
              <a:t>Marketing graduate, Jahangirnagar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DB4DF-9A12-4566-B7D7-E52A007C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Zahidul Islam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6D9AC-BE8D-4F2C-A67B-D63FA96C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CBAAA-C101-440B-B025-803887D2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00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I am passionate about understanding consumers, building brands, and turning ideas into market impact.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3E8F9-B285-4F96-A917-55FC76BD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00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D35"/>
                </a:solidFill>
                <a:latin typeface="Arial"/>
                <a:ea typeface="Arial"/>
                <a:cs typeface="Arial"/>
              </a:rPr>
              <a:t>I completed my BBA in Marketing and developed my experience through academic projects, student leadership, and a Sales Internship in Reckitt’s Trade Marketing Department.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ED65D-EF20-4936-BAE9-DE63092E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00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As I begin my professional career, I aim to keep learning, contribute meaningfully, and grow into a well-rounded marketing professional. I welcome meaningful conversations, new challenges, and opportunities to learn.</a:t>
            </a:r>
          </a:p>
        </p:txBody>
      </p:sp>
    </p:spTree>
    <p:extLst>
      <p:ext uri="{BB962C8B-B14F-4D97-AF65-F5344CB8AC3E}">
        <p14:creationId xmlns:p14="http://schemas.microsoft.com/office/powerpoint/2010/main" val="14389837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82510-487A-434F-B7F8-49EA2655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Reckitt sales internship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12F35-062C-48FA-A626-27EF27C6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37738"/>
                </a:solidFill>
                <a:latin typeface="Arial"/>
                <a:ea typeface="Arial"/>
                <a:cs typeface="Arial"/>
              </a:rPr>
              <a:t>Reckitt Benckiser (Bangladesh) PLC, Dhaka / 16 April–15 July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F6B2D-245E-4197-8B72-5BC65396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Zahidul Islam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A99D9-7A65-4CD4-9F6D-F8578A14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57734-764D-4014-8D45-034BC9B0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Market 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7ABA6-14D2-49CC-AAF5-C585ED9A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Visited distribution houses and retail outlets to observe sales operations, target execution, and retailer relationships.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DAA72-DA54-4192-B074-1BB790C3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Competitor pricing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1073D-750E-491F-9FF7-515495A6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Updated online competitor prices twice weekly to support pricing and market positioning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C7106-FB9B-483B-A6EA-00891C6B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Effective Trade Price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72CA6-DEA8-4D55-9453-88E2E0B2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Calculated outlet purchase prices after discounts and trade offers to support trade marketing evaluation.</a:t>
            </a:r>
          </a:p>
        </p:txBody>
      </p:sp>
      <p:sp>
        <p:nvSpPr>
          <p:cNvPr id="11" name="Editable media space: Add internship photo or approved work sample">
            <a:extLst xmlns:a="http://schemas.openxmlformats.org/drawingml/2006/main">
              <a:ext uri="{FF2B5EF4-FFF2-40B4-BE49-F238E27FC236}">
                <a16:creationId xmlns:a16="http://schemas.microsoft.com/office/drawing/2014/main" id="{07D2DF19-6374-4F21-9C1A-E39C02E9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05000"/>
            <a:ext cx="32861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DF"/>
          </a:solidFill>
          <a:ln xmlns:a="http://schemas.openxmlformats.org/drawingml/2006/main" w="9525">
            <a:solidFill>
              <a:srgbClr val="B5BEB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B6147-9431-4127-96A9-D80D2E73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676650"/>
            <a:ext cx="2828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Add internship photo or approved work sample</a:t>
            </a:r>
          </a:p>
        </p:txBody>
      </p:sp>
    </p:spTree>
    <p:extLst>
      <p:ext uri="{BB962C8B-B14F-4D97-AF65-F5344CB8AC3E}">
        <p14:creationId xmlns:p14="http://schemas.microsoft.com/office/powerpoint/2010/main" val="4949070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27DAA-3E8C-4375-B1EA-7F84BF29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Internship contributions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ABBD3-E407-4512-9E40-EE195682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37738"/>
                </a:solidFill>
                <a:latin typeface="Arial"/>
                <a:ea typeface="Arial"/>
                <a:cs typeface="Arial"/>
              </a:rPr>
              <a:t>Sales Intern, Trade Marketing Department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7C528-271B-484C-8F3C-E4B18E71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Zahidul Islam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873CA-8E48-4547-91E4-94421789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ADD83-23E7-4241-9C6B-454B34F7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429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90 to 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5C834-584F-4595-9420-79C0F72E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Zero-sales DSR count over 21 days</a:t>
            </a:r>
          </a:p>
          <a:p xmlns:a="http://schemas.openxmlformats.org/drawingml/2006/main">
            <a:pPr>
              <a:defRPr sz="180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Contributed through follow-up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6CCAD-7CB3-4474-96A3-6275CA4A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85950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219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0BB0F-C226-424A-8ACB-EB99F047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432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Follow-up calls on DSR incentive</a:t>
            </a:r>
          </a:p>
          <a:p xmlns:a="http://schemas.openxmlformats.org/drawingml/2006/main">
            <a:pPr>
              <a:defRPr sz="180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awareness and achievement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9AE80-AB54-45F4-8C7F-97B7EBC1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CD035-CF7D-436E-9C61-D303F474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Merchandisers monitored</a:t>
            </a:r>
          </a:p>
          <a:p xmlns:a="http://schemas.openxmlformats.org/drawingml/2006/main">
            <a:pPr>
              <a:defRPr sz="180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through the CM Tracker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A795B-FA91-4872-9E20-14BB11E9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SKU mapping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AA31B-3121-46F7-8F70-90FF85D7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Updated Eco SKU mapping by brand, variant, and pack size.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48DF0-F2EA-4CBD-B1D3-A8FE5093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Demographic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10FF7B-98EF-4374-8F7F-83B819E4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Analyzed population, household, income, and expenditure data using BBS Census and HIES datasets.</a:t>
            </a:r>
          </a:p>
        </p:txBody>
      </p:sp>
    </p:spTree>
    <p:extLst>
      <p:ext uri="{BB962C8B-B14F-4D97-AF65-F5344CB8AC3E}">
        <p14:creationId xmlns:p14="http://schemas.microsoft.com/office/powerpoint/2010/main" val="1942393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740AE-3B13-426D-8D13-08893266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Selected projects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39C25-3B1F-4D9A-8812-63ADBD8C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Zahidul Islam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D8108-6C17-4980-8A9B-BB0E2B1C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D88AE-D112-4463-8D3F-4D6CD83B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01  Frame-e Bondi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715CF-F583-4537-AAA1-C874C0AA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Online sunglasses brand / Strategic Brand Management (MKT-408) / January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04609-D0ED-4DCA-9734-4CBB8B5F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02  Ornabites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C4F73-BB2F-4E81-B234-0F82C56A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One-day marketing activation / Marketing Management (MKT-401) / September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24A8F-D0D5-4E24-8AEC-D88D9C7A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03  Mental health awareness advertisement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26690-E8A1-4580-BF4B-571F4048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Advertising and Public Relations (MKT-402) / Team video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08F8E-D229-47DA-BEE1-360D15F8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04  BSCIC tannery estate documentary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E6484-98C9-40B4-A90A-557A6B54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Project Management (309) / Talk show and documentary / October 2025</a:t>
            </a:r>
          </a:p>
        </p:txBody>
      </p:sp>
    </p:spTree>
    <p:extLst>
      <p:ext uri="{BB962C8B-B14F-4D97-AF65-F5344CB8AC3E}">
        <p14:creationId xmlns:p14="http://schemas.microsoft.com/office/powerpoint/2010/main" val="13220630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F238F-159F-46BE-B7D9-76FF6B6B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Frame-e Bondi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84B1B-7984-4E69-ADA5-3D4AE23C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37738"/>
                </a:solidFill>
                <a:latin typeface="Arial"/>
                <a:ea typeface="Arial"/>
                <a:cs typeface="Arial"/>
              </a:rPr>
              <a:t>Online sunglasses brand / Strategic Brand Management (MKT-408) / January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8BF16-60A9-49F3-8FB7-FBB7A08C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Zahidul Islam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C34ED-260D-4216-B961-EE6A345A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0666E-02D1-4140-8617-405E920C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19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D35"/>
                </a:solidFill>
                <a:latin typeface="Arial"/>
                <a:ea typeface="Arial"/>
                <a:cs typeface="Arial"/>
              </a:rPr>
              <a:t>Our team developed an online brand using STP, SWOT, and a brand mantra, then tested our decisions through day-to-day operations.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D3F53-28FE-4BAC-8740-AE24527A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My responsibilities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53E40-A922-4F74-B82E-F9AFC401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Set up the social media page, maintained consistent posts, and handled customer DMs.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63E77-540E-4B09-8F2A-A5E1FA32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Business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A461E-8910-4831-B23E-A126B25D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Sourced quality products at low cost, supported fair pricing, and kept online availability aligned with inventory.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20D2D-2DB4-4EE1-9D2C-FF496CD25E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3cf630b5b4d5a"/>
          <a:stretch xmlns:a="http://schemas.openxmlformats.org/drawingml/2006/main"/>
        </p:blipFill>
        <p:spPr>
          <a:xfrm xmlns:a="http://schemas.openxmlformats.org/drawingml/2006/main">
            <a:off x="7429500" y="2178248"/>
            <a:ext cx="4048125" cy="253007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B1E23-048E-45BB-8DB6-08EF7128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578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Brand page supplied with this portfolio</a:t>
            </a:r>
          </a:p>
        </p:txBody>
      </p:sp>
    </p:spTree>
    <p:extLst>
      <p:ext uri="{BB962C8B-B14F-4D97-AF65-F5344CB8AC3E}">
        <p14:creationId xmlns:p14="http://schemas.microsoft.com/office/powerpoint/2010/main" val="20722935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F83F8-23AF-4364-B2E0-3A0D0D2B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Brand decisions in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F16F3-F13A-4E52-9D4A-B224C333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37738"/>
                </a:solidFill>
                <a:latin typeface="Arial"/>
                <a:ea typeface="Arial"/>
                <a:cs typeface="Arial"/>
              </a:rPr>
              <a:t>Frame-e Bondi / Project reflection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B95C0-9938-47ED-AF31-4822347A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Zahidul Islam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7BC01-F17C-4120-B637-E8143B39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C1466-7465-426B-A5E2-C85ED7C7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Good branding and sound business decisions need to work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713EB-547F-4721-A076-AA6BF528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666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The project showed me how customer communication, product availability, sourcing costs, and margins shape the brand experience.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E2DF7-CBAD-40B8-99C3-BE4703C5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66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D35"/>
                </a:solidFill>
                <a:latin typeface="Arial"/>
                <a:ea typeface="Arial"/>
                <a:cs typeface="Arial"/>
              </a:rPr>
              <a:t>We presented to Professor Md. Kashedul Wahab Tuhin and Assistant Professor Sabakun Naher Shetu. Auvik Jamil, owner of J-The Story of Handloom Jamdani, provided feedback on scaling branding decisions.</a:t>
            </a:r>
          </a:p>
        </p:txBody>
      </p:sp>
      <p:sp>
        <p:nvSpPr>
          <p:cNvPr id="8" name="Editable media space: Add product photography&#10;or presentation photos">
            <a:extLst xmlns:a="http://schemas.openxmlformats.org/drawingml/2006/main">
              <a:ext uri="{FF2B5EF4-FFF2-40B4-BE49-F238E27FC236}">
                <a16:creationId xmlns:a16="http://schemas.microsoft.com/office/drawing/2014/main" id="{65CB939A-48B2-4CF4-9B16-FCD556BC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76425"/>
            <a:ext cx="3524250" cy="387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DF"/>
          </a:solidFill>
          <a:ln xmlns:a="http://schemas.openxmlformats.org/drawingml/2006/main" w="9525">
            <a:solidFill>
              <a:srgbClr val="B5BEB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18A5E-F0DE-4AAC-9F0B-7E782DC8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86163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Add product photography</a:t>
            </a:r>
          </a:p>
          <a:p xmlns:a="http://schemas.openxmlformats.org/drawingml/2006/main">
            <a:pPr>
              <a:defRPr sz="16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or presentation photos</a:t>
            </a:r>
          </a:p>
        </p:txBody>
      </p:sp>
    </p:spTree>
    <p:extLst>
      <p:ext uri="{BB962C8B-B14F-4D97-AF65-F5344CB8AC3E}">
        <p14:creationId xmlns:p14="http://schemas.microsoft.com/office/powerpoint/2010/main" val="12084846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7217F-F313-49EA-9E3C-DE665B04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Ornabites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F38FE-5854-40B7-B75F-99F0F748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37738"/>
                </a:solidFill>
                <a:latin typeface="Arial"/>
                <a:ea typeface="Arial"/>
                <a:cs typeface="Arial"/>
              </a:rPr>
              <a:t>Team Syncforce / New Product Fair / 7 September 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81B38-080C-4042-AD99-AB42B131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Zahidul Islam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6EE99-6F40-417C-98F5-E3DCC26D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0B07A-6974-4505-AA72-0B8AD3EF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“If you bite it, you write it.”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FE943-B7F7-4755-A900-04D846FB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666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D35"/>
                </a:solidFill>
                <a:latin typeface="Arial"/>
                <a:ea typeface="Arial"/>
                <a:cs typeface="Arial"/>
              </a:rPr>
              <a:t>For MKT-401, our team executed a one-day marketing plan offering food items and ornaments. All products sold out ahead of schedule.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B3090-2E62-479B-8065-0EF6C082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I handled brand promotion, visual identity, menu design, stall and banner design, logistics coordination, and sales of my self-developed product.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38786-3277-4CB6-869E-63A78B5C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D35"/>
                </a:solidFill>
                <a:latin typeface="Arial"/>
                <a:ea typeface="Arial"/>
                <a:cs typeface="Arial"/>
              </a:rPr>
              <a:t>I also hosted the special session with faculty members and industry professionals.</a:t>
            </a:r>
          </a:p>
        </p:txBody>
      </p:sp>
      <p:sp>
        <p:nvSpPr>
          <p:cNvPr id="9" name="Editable media space: Add stall photo, menu,&#10;or event highlights">
            <a:extLst xmlns:a="http://schemas.openxmlformats.org/drawingml/2006/main">
              <a:ext uri="{FF2B5EF4-FFF2-40B4-BE49-F238E27FC236}">
                <a16:creationId xmlns:a16="http://schemas.microsoft.com/office/drawing/2014/main" id="{65BD392C-31C7-43EB-AF23-8469247B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66900"/>
            <a:ext cx="35242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DF"/>
          </a:solidFill>
          <a:ln xmlns:a="http://schemas.openxmlformats.org/drawingml/2006/main" w="9525">
            <a:solidFill>
              <a:srgbClr val="B5BEB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A8709-7FDC-48ED-BA43-55817331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48075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Add stall photo, menu,</a:t>
            </a:r>
          </a:p>
          <a:p xmlns:a="http://schemas.openxmlformats.org/drawingml/2006/main">
            <a:pPr>
              <a:defRPr sz="16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or event highlights</a:t>
            </a:r>
          </a:p>
        </p:txBody>
      </p:sp>
    </p:spTree>
    <p:extLst>
      <p:ext uri="{BB962C8B-B14F-4D97-AF65-F5344CB8AC3E}">
        <p14:creationId xmlns:p14="http://schemas.microsoft.com/office/powerpoint/2010/main" val="16869536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DAA49-AB39-4D43-96D7-71E8008C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Mental health awareness advertisement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FCE87-526D-453E-95B0-688ED8D3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37738"/>
                </a:solidFill>
                <a:latin typeface="Arial"/>
                <a:ea typeface="Arial"/>
                <a:cs typeface="Arial"/>
              </a:rPr>
              <a:t>Advertising and Public Relations (MKT-402) / Academic project, not a paid promotion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EA5F4-CB7D-4790-AEF4-8FB20FC4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Zahidul Islam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CEDA2-603D-41E3-8ECF-DDE6B618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1E495-31A8-4BDB-A6BF-9E32CC5F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286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D35"/>
                </a:solidFill>
                <a:latin typeface="Arial"/>
                <a:ea typeface="Arial"/>
                <a:cs typeface="Arial"/>
              </a:rPr>
              <a:t>Our first video advertisement explored unseen struggles, including PTSD, ADHD, and OCD, and the value of steady support.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05AD8-010D-4BCB-9556-A99DF94D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52863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I helped turn the idea into a video and acted in it. The project developed my teamwork, empathy, and understanding of responsible storytelling.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AF36F-8D3E-4EAE-83DC-C40A6A8E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5286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D35"/>
                </a:solidFill>
                <a:latin typeface="Arial"/>
                <a:ea typeface="Arial"/>
                <a:cs typeface="Arial"/>
              </a:rPr>
              <a:t>Teacher: Mamtaj Akter</a:t>
            </a:r>
          </a:p>
          <a:p xmlns:a="http://schemas.openxmlformats.org/drawingml/2006/main">
            <a:pPr>
              <a:defRPr sz="1650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D35"/>
                </a:solidFill>
                <a:latin typeface="Arial"/>
                <a:ea typeface="Arial"/>
                <a:cs typeface="Arial"/>
              </a:rPr>
              <a:t>Team: Rafi Islam, Sabrina Khan, Md. Aminul Islam, and Mozammel Haque Tanvir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03E7B-41FC-46AE-9A0A-185ED6CC3B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bb62453be4e86"/>
          <a:stretch xmlns:a="http://schemas.openxmlformats.org/drawingml/2006/main"/>
        </p:blipFill>
        <p:spPr>
          <a:xfrm xmlns:a="http://schemas.openxmlformats.org/drawingml/2006/main">
            <a:off x="6572250" y="1907977"/>
            <a:ext cx="4933950" cy="277534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1F1A7-E347-413F-B28A-B8D47269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9650"/>
            <a:ext cx="493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Video still from the supplied advertisement</a:t>
            </a:r>
          </a:p>
        </p:txBody>
      </p:sp>
      <p:sp>
        <p:nvSpPr>
          <p:cNvPr id="10" name="Editable media space: Add the video in Canva">
            <a:extLst xmlns:a="http://schemas.openxmlformats.org/drawingml/2006/main">
              <a:ext uri="{FF2B5EF4-FFF2-40B4-BE49-F238E27FC236}">
                <a16:creationId xmlns:a16="http://schemas.microsoft.com/office/drawing/2014/main" id="{66566C18-CC97-4C37-ADAF-E3EC5D86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62575"/>
            <a:ext cx="4933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DF"/>
          </a:solidFill>
          <a:ln xmlns:a="http://schemas.openxmlformats.org/drawingml/2006/main" w="9525">
            <a:solidFill>
              <a:srgbClr val="B5BEB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5F6D9-9C2F-49A1-A4A0-697E2402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44830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Add the video in Canva</a:t>
            </a:r>
          </a:p>
        </p:txBody>
      </p:sp>
    </p:spTree>
    <p:extLst>
      <p:ext uri="{BB962C8B-B14F-4D97-AF65-F5344CB8AC3E}">
        <p14:creationId xmlns:p14="http://schemas.microsoft.com/office/powerpoint/2010/main" val="193728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E905B-267A-4A80-89A3-35399A2F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BSCIC tannery estate documentary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F4FF0-AF16-4ADB-B8A2-A567A8BB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37738"/>
                </a:solidFill>
                <a:latin typeface="Arial"/>
                <a:ea typeface="Arial"/>
                <a:cs typeface="Arial"/>
              </a:rPr>
              <a:t>Savar / Project Management (309) / October 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D0515-944B-4AE3-8ECF-4E52D015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Zahidul Islam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5EDB8-AE21-4353-90E0-A6AC411B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21D77-9072-4683-9495-AA0DA52D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D35"/>
                </a:solidFill>
                <a:latin typeface="Arial"/>
                <a:ea typeface="Arial"/>
                <a:cs typeface="Arial"/>
              </a:rPr>
              <a:t>Our team produced a talk show and documentary based on a visit to the BSCIC Tannery Industrial Estate.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480AB-FB74-44DA-B1BB-17C91BFD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477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We spoke with industry professionals and documented the estate’s challenges and successes, including its environmental and economic impact.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B1515-071E-4E9E-9BBA-8BEFADDB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647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D35"/>
                </a:solidFill>
                <a:latin typeface="Arial"/>
                <a:ea typeface="Arial"/>
                <a:cs typeface="Arial"/>
              </a:rPr>
              <a:t>The assignment strengthened my understanding of project management and teamwork through fieldwork, planning, filming, and editing.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0C166-7D40-4D3A-BA5E-CEB12FAF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647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Faculty: Md. Muzahidul Islam</a:t>
            </a:r>
          </a:p>
          <a:p xmlns:a="http://schemas.openxmlformats.org/drawingml/2006/main">
            <a:pPr>
              <a:defRPr sz="150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Team: Md. Aminul Islam and Md. Mozammel Haque Tanvir</a:t>
            </a:r>
          </a:p>
        </p:txBody>
      </p:sp>
      <p:sp>
        <p:nvSpPr>
          <p:cNvPr id="9" name="Editable media space: Add documentary video&#10;or field visit photos">
            <a:extLst xmlns:a="http://schemas.openxmlformats.org/drawingml/2006/main">
              <a:ext uri="{FF2B5EF4-FFF2-40B4-BE49-F238E27FC236}">
                <a16:creationId xmlns:a16="http://schemas.microsoft.com/office/drawing/2014/main" id="{0F841022-A19D-44F4-A3F0-3EEDA3F3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66900"/>
            <a:ext cx="35242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DF"/>
          </a:solidFill>
          <a:ln xmlns:a="http://schemas.openxmlformats.org/drawingml/2006/main" w="9525">
            <a:solidFill>
              <a:srgbClr val="B5BEB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A79B9-0104-434B-9A3A-93993995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62363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Add documentary video</a:t>
            </a:r>
          </a:p>
          <a:p xmlns:a="http://schemas.openxmlformats.org/drawingml/2006/main">
            <a:pPr>
              <a:defRPr sz="16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or field visit photos</a:t>
            </a:r>
          </a:p>
        </p:txBody>
      </p:sp>
    </p:spTree>
    <p:extLst>
      <p:ext uri="{BB962C8B-B14F-4D97-AF65-F5344CB8AC3E}">
        <p14:creationId xmlns:p14="http://schemas.microsoft.com/office/powerpoint/2010/main" val="369072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495D5C-A838-4257-9E2F-FD9C3BDB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Student leadership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89A63-BD3D-4851-9D14-98860C20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37738"/>
                </a:solidFill>
                <a:latin typeface="Arial"/>
                <a:ea typeface="Arial"/>
                <a:cs typeface="Arial"/>
              </a:rPr>
              <a:t>President, Forum of Entrepreneurship &amp; Business (FEB-JU) / July 2025–June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F785C-3678-4D66-B442-526BFE46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Zahidul Islam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08DC8-F7CC-49B5-8B26-808C4076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EC2F0-A21E-4F12-9238-CABF3D39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Food Carnival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47398-178A-4B13-AD22-55F567E8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Organized stalls where 30+ students prepared and sold food to explore entrepreneurship.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615A0-D798-446C-BA74-0F169EF8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BRAC Bank Career Talk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E47F3-1140-499C-85BD-D1C2D8A5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Coordinated an event for 350+ participants, including 45+ on-campus interviewees. Many advanced to the next stage.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B1A18-AACC-4C18-9076-FFF0A02C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FUTUREMAKERS Roadshow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4BFD4-D86D-4C6A-9A33-A16926E3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Organized the Grameenphone roadshow at Jahangirnagar University with 230+ participants.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17C90-1D7C-436E-89F7-698B47610F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2727260f9481e"/>
          <a:stretch xmlns:a="http://schemas.openxmlformats.org/drawingml/2006/main"/>
        </p:blipFill>
        <p:spPr>
          <a:xfrm xmlns:a="http://schemas.openxmlformats.org/drawingml/2006/main">
            <a:off x="8239125" y="2252663"/>
            <a:ext cx="3238500" cy="323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472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CF1AE-AF5D-4B8C-8EFB-C0CEB108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FEB-JU event coordination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E25DD-F9DC-4936-9FF7-CAFBFA1C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37738"/>
                </a:solidFill>
                <a:latin typeface="Arial"/>
                <a:ea typeface="Arial"/>
                <a:cs typeface="Arial"/>
              </a:rPr>
              <a:t>Leadership through planning, teamwork, and ownership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7F661-01ED-4FA4-B5A1-4391F622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Zahidul Islam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AD822-CD13-43AF-A3D0-53798673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B314C-3084-4325-ABD2-F73BAB0B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81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Business &amp; Mental Wellness Seminar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EF355-62FD-4708-B248-7E95ED41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681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Collaborated with Grameen Digital Healthcare Solutions on a seminar engaging 80+ students.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051BE-7310-43EF-AF5F-21B689C9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681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FEBx 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92009-009D-48EA-8E4D-9910444E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681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Co-convened a five-day flagship event with 60+ participants per session, including the finale and prize-giving.</a:t>
            </a:r>
          </a:p>
        </p:txBody>
      </p:sp>
      <p:sp>
        <p:nvSpPr>
          <p:cNvPr id="9" name="Editable media space: Add seminar or roadshow photos">
            <a:extLst xmlns:a="http://schemas.openxmlformats.org/drawingml/2006/main">
              <a:ext uri="{FF2B5EF4-FFF2-40B4-BE49-F238E27FC236}">
                <a16:creationId xmlns:a16="http://schemas.microsoft.com/office/drawing/2014/main" id="{0A168AC5-74BD-4A95-A3DE-590BFA5E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66900"/>
            <a:ext cx="33337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DF"/>
          </a:solidFill>
          <a:ln xmlns:a="http://schemas.openxmlformats.org/drawingml/2006/main" w="9525">
            <a:solidFill>
              <a:srgbClr val="B5BEB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77D08-46DA-4E72-A949-C6126B42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876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Add seminar or roadshow photos</a:t>
            </a:r>
          </a:p>
        </p:txBody>
      </p:sp>
      <p:sp>
        <p:nvSpPr>
          <p:cNvPr id="11" name="Editable media space: Add FEBx Edge event photos">
            <a:extLst xmlns:a="http://schemas.openxmlformats.org/drawingml/2006/main">
              <a:ext uri="{FF2B5EF4-FFF2-40B4-BE49-F238E27FC236}">
                <a16:creationId xmlns:a16="http://schemas.microsoft.com/office/drawing/2014/main" id="{663C5EE1-D1B2-4507-9998-2D47C81C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33337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DF"/>
          </a:solidFill>
          <a:ln xmlns:a="http://schemas.openxmlformats.org/drawingml/2006/main" w="9525">
            <a:solidFill>
              <a:srgbClr val="B5BEB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9FF11-941E-4D42-AB08-58999B7F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62500"/>
            <a:ext cx="2876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Add FEBx Edge event photos</a:t>
            </a:r>
          </a:p>
        </p:txBody>
      </p:sp>
    </p:spTree>
    <p:extLst>
      <p:ext uri="{BB962C8B-B14F-4D97-AF65-F5344CB8AC3E}">
        <p14:creationId xmlns:p14="http://schemas.microsoft.com/office/powerpoint/2010/main" val="12524202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7F0F2-8B5A-465D-8E4F-4B2E61D2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Campus engagement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D751A-D707-4446-958C-7439418A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A377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37738"/>
                </a:solidFill>
                <a:latin typeface="Arial"/>
                <a:ea typeface="Arial"/>
                <a:cs typeface="Arial"/>
              </a:rPr>
              <a:t>Jahangirnagar University Career Club and Hult Prize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65E63-D318-4E2A-9685-D57B82A2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Zahidul Islam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215CF-D918-4992-B6D3-83B31AB4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AB980-B3AB-4EB0-82EA-47699942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628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JUCC Executive Member-2 / 2023–2025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EDB15-9788-42C0-A9AA-DA0A9FA4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28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Recruited 1,200+ new general members in a single tenure. Supported logistics for Breakthrough Beginnings, a fresher’s reception featuring Sadman Sadik with 200+ attendees.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61403-079E-413C-9821-C14DD601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628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Hult Prize Guest Management / 2023–2024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CF5D8-5C73-4E74-9C14-B3893083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628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As Assistant Head of Guest Management, managed guest coordination and on-site support for campus events with 150 participating teams.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33E18-C9EC-4C78-9063-38BF004F5A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1744882824a07"/>
          <a:stretch xmlns:a="http://schemas.openxmlformats.org/drawingml/2006/main"/>
        </p:blipFill>
        <p:spPr>
          <a:xfrm xmlns:a="http://schemas.openxmlformats.org/drawingml/2006/main">
            <a:off x="7524750" y="233362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4EE36-CCC7-4BD9-919C-4187F2AABA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a8b43b6864fba"/>
          <a:stretch xmlns:a="http://schemas.openxmlformats.org/drawingml/2006/main"/>
        </p:blipFill>
        <p:spPr>
          <a:xfrm xmlns:a="http://schemas.openxmlformats.org/drawingml/2006/main">
            <a:off x="9525000" y="23336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10F06-3A7B-4B97-815F-CDCAF59F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0537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Club appointment graphics</a:t>
            </a:r>
          </a:p>
        </p:txBody>
      </p:sp>
    </p:spTree>
    <p:extLst>
      <p:ext uri="{BB962C8B-B14F-4D97-AF65-F5344CB8AC3E}">
        <p14:creationId xmlns:p14="http://schemas.microsoft.com/office/powerpoint/2010/main" val="4779913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63951-B2CA-430D-8262-E05B6726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Professional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15CA3-B0D7-4A74-B915-DD585EDA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Zahidul Islam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48692-76B0-4C0F-85DE-853466E9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40CF2-E2B1-4FCA-BDAA-B89B97ED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Trade marketing &amp;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FB4E9-4983-4D0C-AF00-AB296193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Competitor price tracking, Effective Trade Price analysis, SKU mapping, merchandiser monitoring, and demographic analysis.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72863-2980-46A3-9F14-AB580847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Brand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34B59-5AD8-4801-963E-B3DCE692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Social media setup, customer communication, visual identity, menu and banner design, sourcing, pricing, and inventory coordination.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8154A-1B1B-46B0-ADEB-8B62F070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Leadership &amp;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678AC-23E9-4DD5-ADF9-ABC936FE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Event coordination, stakeholder engagement, guest management, field team communication, sales follow-up, and teamwork.</a:t>
            </a:r>
          </a:p>
        </p:txBody>
      </p:sp>
    </p:spTree>
    <p:extLst>
      <p:ext uri="{BB962C8B-B14F-4D97-AF65-F5344CB8AC3E}">
        <p14:creationId xmlns:p14="http://schemas.microsoft.com/office/powerpoint/2010/main" val="10482756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F3B6D-AC84-4917-B97B-29391E37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Certificates &amp; professional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9EA69-22AF-46F4-B7FA-367FA0C0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Zahidul Islam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AFF5B-1581-415E-B7F6-C2EF8112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A84CF-D2E4-4AEF-8959-6B9AF3B6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33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Aspire Institute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373B6-9151-4F37-86A8-9D0868B5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733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Engage Test Pilot, Aspire Leaders Program. Recognition for early LMS testing and feedback.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D1B87-004E-441B-9E64-8F7345DA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733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keeron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EBBD4-173E-451F-B4F8-ED20CE93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733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MS Excel for Professionals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2848F-D270-4C31-8217-13C8CA30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33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Nestlé Bangladesh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40BA8-CFEB-45E8-BBFA-9859D10A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733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NestGen Running an Efficient Supply Chain</a:t>
            </a:r>
          </a:p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Empowering a Sustainable Future through YOUth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D4CCE-972B-4B84-8E58-73B7F5F2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733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Reckitt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5EE20-00E4-403A-ABDC-FD7FA358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733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Sales internship completion certificate</a:t>
            </a:r>
          </a:p>
        </p:txBody>
      </p:sp>
      <p:sp>
        <p:nvSpPr>
          <p:cNvPr id="12" name="Editable media space: Add certificate scans&#10;Duplicate this page for more">
            <a:extLst xmlns:a="http://schemas.openxmlformats.org/drawingml/2006/main">
              <a:ext uri="{FF2B5EF4-FFF2-40B4-BE49-F238E27FC236}">
                <a16:creationId xmlns:a16="http://schemas.microsoft.com/office/drawing/2014/main" id="{A743CDEC-86DF-4E9B-906D-AC5E0114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47850"/>
            <a:ext cx="28575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DF"/>
          </a:solidFill>
          <a:ln xmlns:a="http://schemas.openxmlformats.org/drawingml/2006/main" w="9525">
            <a:solidFill>
              <a:srgbClr val="B5BEB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CBB5F-04DB-4C41-877B-534E51E9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48075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Add certificate scans</a:t>
            </a:r>
          </a:p>
          <a:p xmlns:a="http://schemas.openxmlformats.org/drawingml/2006/main">
            <a:pPr>
              <a:defRPr sz="16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Duplicate this page for more</a:t>
            </a:r>
          </a:p>
        </p:txBody>
      </p:sp>
    </p:spTree>
    <p:extLst>
      <p:ext uri="{BB962C8B-B14F-4D97-AF65-F5344CB8AC3E}">
        <p14:creationId xmlns:p14="http://schemas.microsoft.com/office/powerpoint/2010/main" val="12530897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257CD-AAD9-4E72-BFE7-EF6C674E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Achievements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67864-C282-4436-881B-878F0B4F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Zahidul Islam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6B9B1-8568-47FF-A652-05FCC591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5CDE9-1DD1-444A-B2A4-58E3A515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Four consecutive years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73CB5-E525-43BD-8D5C-99E14C61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Jahangirnagar University Merit Scholarship</a:t>
            </a:r>
          </a:p>
          <a:p xmlns:a="http://schemas.openxmlformats.org/drawingml/2006/main">
            <a:pPr>
              <a:defRPr sz="210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Outstanding academic performance in 2023, 2024, 2025, and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A8006-91D7-4B78-89AC-3308C556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Champion / 2019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0B1C8-9FB9-4F59-96C9-64C4EFB5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Business Fest, Wall Magazine, Notre Dame College, Dhaka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BF740-74D5-47C8-BED7-B34FC1AA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2nd place / 2019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12874-7E19-485C-B55D-7084E471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Business Fest, Olympiad Management, Notre Dame College, Dhaka</a:t>
            </a:r>
          </a:p>
        </p:txBody>
      </p:sp>
    </p:spTree>
    <p:extLst>
      <p:ext uri="{BB962C8B-B14F-4D97-AF65-F5344CB8AC3E}">
        <p14:creationId xmlns:p14="http://schemas.microsoft.com/office/powerpoint/2010/main" val="1410172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05BBC-A3FE-4E87-823D-9FAAC0D2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Let’s connect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A99A1-D6AC-4E78-804F-FA836DD1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Zahidul Islam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BBE42-A2D9-4EF3-AB03-A180B6A2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A5AFC-7AD1-4CF2-9778-08E1EC4F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83D35"/>
                </a:solidFill>
                <a:latin typeface="Arial"/>
                <a:ea typeface="Arial"/>
                <a:cs typeface="Arial"/>
              </a:rPr>
              <a:t>Zahidul Islam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00591-ECA1-4E7F-9BDE-8220736F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Interested in Brand Management, Trade Marketing,</a:t>
            </a:r>
          </a:p>
          <a:p xmlns:a="http://schemas.openxmlformats.org/drawingml/2006/main">
            <a:pPr>
              <a:defRPr sz="2250" b="0">
                <a:solidFill>
                  <a:srgbClr val="50635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0635C"/>
                </a:solidFill>
                <a:latin typeface="Arial"/>
                <a:ea typeface="Arial"/>
                <a:cs typeface="Arial"/>
              </a:rPr>
              <a:t>Consumer Insights, and Business Development.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55C97-C45C-4876-B322-49186CCD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D35"/>
                </a:solidFill>
                <a:latin typeface="Arial"/>
                <a:ea typeface="Arial"/>
                <a:cs typeface="Arial"/>
                <a:hlinkClick xmlns:r="http://schemas.openxmlformats.org/officeDocument/2006/relationships" r:id="Race9dba4bae2436a"/>
              </a:rPr>
              <a:t>zahidul.faysal02@gmail.com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6CF51-2901-4E62-B216-AA612451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D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D35"/>
                </a:solidFill>
                <a:latin typeface="Arial"/>
                <a:ea typeface="Arial"/>
                <a:cs typeface="Arial"/>
                <a:hlinkClick xmlns:r="http://schemas.openxmlformats.org/officeDocument/2006/relationships" r:id="R45910986bb154600"/>
              </a:rPr>
              <a:t>linkedin.com/in/zahidul-islam1766</a:t>
            </a:r>
          </a:p>
        </p:txBody>
      </p:sp>
    </p:spTree>
    <p:extLst>
      <p:ext uri="{BB962C8B-B14F-4D97-AF65-F5344CB8AC3E}">
        <p14:creationId xmlns:p14="http://schemas.microsoft.com/office/powerpoint/2010/main" val="1394880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2026-10-10T13:41:24.1530000Z</dcterms:created>
  <dcterms:modified xsi:type="dcterms:W3CDTF">2026-10-10T13:41:24.1530000Z</dcterms:modified>
</coreProperties>
</file>